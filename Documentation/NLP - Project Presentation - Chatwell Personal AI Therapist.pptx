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5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78D5A4-1F87-467C-8FB4-A6A3E8A1863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F4EBA-9E17-45AA-AAE0-65186DC8B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6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I’m Faraz Hussain. Today I’m presenting </a:t>
            </a:r>
            <a:r>
              <a:rPr lang="en-US" b="1" dirty="0"/>
              <a:t>ChatWell</a:t>
            </a:r>
            <a:r>
              <a:rPr lang="en-US" dirty="0"/>
              <a:t>, an AI therapist designed to solve a critical problem in digital health: </a:t>
            </a:r>
            <a:r>
              <a:rPr lang="en-US" b="1" dirty="0"/>
              <a:t>Privacy</a:t>
            </a:r>
            <a:r>
              <a:rPr lang="en-US" dirty="0"/>
              <a:t>.</a:t>
            </a:r>
          </a:p>
          <a:p>
            <a:r>
              <a:rPr lang="en-US" dirty="0"/>
              <a:t>Unlike apps that send your data to the cloud, ChatWell is a fully local chatbot that provides immediate, empathetic mental health support right on your own laptop, keeping your personal conversations completely offline and secure.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4EBA-9E17-45AA-AAE0-65186DC8B1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49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face three major issues with current mental health tools: professional therapy is expensive, waitlists are long, and using public AI like ChatGPT risks exposing your private medical data.</a:t>
            </a:r>
          </a:p>
          <a:p>
            <a:r>
              <a:rPr lang="en-US" dirty="0"/>
              <a:t>ChatWell solves this by bringing the AI </a:t>
            </a:r>
            <a:r>
              <a:rPr lang="en-US" b="1" dirty="0"/>
              <a:t>to you</a:t>
            </a:r>
            <a:r>
              <a:rPr lang="en-US" dirty="0"/>
              <a:t>. It runs locally, so no data ever leaves your device. It’s accessible 24/7 and, unlike generic AI, it is grounded in actual therapy techniques—like CBT and breathing exercises—rather than just random internet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4EBA-9E17-45AA-AAE0-65186DC8B1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52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how it works under the hood. I built the backend using </a:t>
            </a:r>
            <a:r>
              <a:rPr lang="en-US" b="1" dirty="0"/>
              <a:t>Python Flask</a:t>
            </a:r>
            <a:r>
              <a:rPr lang="en-US" dirty="0"/>
              <a:t>.</a:t>
            </a:r>
          </a:p>
          <a:p>
            <a:r>
              <a:rPr lang="en-US" dirty="0"/>
              <a:t>The core intelligence comes from a </a:t>
            </a:r>
            <a:r>
              <a:rPr lang="en-US" b="1" dirty="0"/>
              <a:t>Small Language Model</a:t>
            </a:r>
            <a:r>
              <a:rPr lang="en-US" dirty="0"/>
              <a:t> (Llama 3.2) running on </a:t>
            </a:r>
            <a:r>
              <a:rPr lang="en-US" b="1" dirty="0" err="1"/>
              <a:t>Ollama</a:t>
            </a:r>
            <a:r>
              <a:rPr lang="en-US" dirty="0"/>
              <a:t>. I implemented a </a:t>
            </a:r>
            <a:r>
              <a:rPr lang="en-US" b="1" dirty="0"/>
              <a:t>RAG Pipeline</a:t>
            </a:r>
            <a:r>
              <a:rPr lang="en-US" dirty="0"/>
              <a:t>—Retrieval Augmented Generation. This means when you ask for help, the system first searches a secure </a:t>
            </a:r>
            <a:r>
              <a:rPr lang="en-US" b="1" dirty="0"/>
              <a:t>Vector Database</a:t>
            </a:r>
            <a:r>
              <a:rPr lang="en-US" dirty="0"/>
              <a:t> (</a:t>
            </a:r>
            <a:r>
              <a:rPr lang="en-US" dirty="0" err="1"/>
              <a:t>ChromaDB</a:t>
            </a:r>
            <a:r>
              <a:rPr lang="en-US" dirty="0"/>
              <a:t>) for verified medical guidelines, and </a:t>
            </a:r>
            <a:r>
              <a:rPr lang="en-US" i="1" dirty="0"/>
              <a:t>then</a:t>
            </a:r>
            <a:r>
              <a:rPr lang="en-US" dirty="0"/>
              <a:t> generates an answer. This significantly reduces hallucinations compared to standard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4EBA-9E17-45AA-AAE0-65186DC8B1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79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ChatWell isn't just a text generator; it has three smart layers:</a:t>
            </a:r>
          </a:p>
          <a:p>
            <a:r>
              <a:rPr lang="en-US" b="1" dirty="0"/>
              <a:t>Memory:</a:t>
            </a:r>
            <a:r>
              <a:rPr lang="en-US" dirty="0"/>
              <a:t> I used </a:t>
            </a:r>
            <a:r>
              <a:rPr lang="en-US" b="1" dirty="0"/>
              <a:t>SQLite</a:t>
            </a:r>
            <a:r>
              <a:rPr lang="en-US" dirty="0"/>
              <a:t> to give the AI long-term memory. It remembers your age, gender, and past sessions so you don't have to repeat yourself.</a:t>
            </a:r>
          </a:p>
          <a:p>
            <a:r>
              <a:rPr lang="en-US" b="1" dirty="0"/>
              <a:t>Safety Guardrails:</a:t>
            </a:r>
            <a:r>
              <a:rPr lang="en-US" dirty="0"/>
              <a:t> This is critical. Before the AI even thinks, a deterministic code layer scans for crisis keywords like 'suicide.' If detected, it immediately blocks the AI and provides emergency hotline numbers.</a:t>
            </a:r>
          </a:p>
          <a:p>
            <a:r>
              <a:rPr lang="en-US" b="1" dirty="0"/>
              <a:t>Mood Tracking:</a:t>
            </a:r>
            <a:r>
              <a:rPr lang="en-US" dirty="0"/>
              <a:t> Users can log their daily emotions to visualize their progress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4EBA-9E17-45AA-AAE0-65186DC8B1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82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conclude, ChatWell demonstrates that we don't need massive cloud servers to build effective healthcare AI. We can build safe, private, and powerful tools on consumer hardware using Small Language Models.</a:t>
            </a:r>
          </a:p>
          <a:p>
            <a:r>
              <a:rPr lang="en-US" dirty="0"/>
              <a:t>In the future, I plan to add </a:t>
            </a:r>
            <a:r>
              <a:rPr lang="en-US" b="1" dirty="0"/>
              <a:t>Voice Interaction</a:t>
            </a:r>
            <a:r>
              <a:rPr lang="en-US" dirty="0"/>
              <a:t> for hands-free support and </a:t>
            </a:r>
            <a:r>
              <a:rPr lang="en-US" b="1" dirty="0"/>
              <a:t>Visual Analytics</a:t>
            </a:r>
            <a:r>
              <a:rPr lang="en-US" dirty="0"/>
              <a:t> to chart mood trends. Thank you for listening, and I’m happy to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F4EBA-9E17-45AA-AAE0-65186DC8B1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06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3261-8444-4F28-1879-482FB363D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1DAE9-47BF-69C5-267A-B95C4C4E0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1BD41-75D6-31B8-34AB-0476F67E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30EB7-F466-A374-6EEB-714E089F7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9EFF3-8F6C-3F0B-0A7D-BCB341A0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42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581AA-50E0-2D1D-5FD7-A6659046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6D211-FD4D-5D33-88F3-842DB2EF2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01D0A-97D1-3B42-A22E-8A857D2B5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551B2-F8A6-F0A8-C90C-D0738994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A405-4567-7DBA-BB24-0EDE1EB7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6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566B-6311-DE62-BCB1-58E4496A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67D9C-7610-9194-5900-BE761C528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EFDF5-8476-E4A9-23E3-CBB90B46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81664-6E97-E339-F69B-C6EF0EA4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3CB42-EBD3-FDBE-D394-D37C7D2A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41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954DA-FCBE-636F-C979-8D04D8B6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2FDA3-1D0E-8367-A9D9-EC5BAAFDE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CBFAF-51CE-4B1F-CCB3-82CDEA00E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CA8EF-4A27-95AC-7A44-5299D8E1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5819C-6AED-1D08-15C1-A302C5E0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8B29A-2171-8096-9ACB-8689FE2F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1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4329F-C048-C8B2-2CB0-FC2F0615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35C98-43B4-449A-B3EC-D8501BEC7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555C-036D-1EFE-0333-E404B6074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BF17E-101C-D867-75CF-DA1B17172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1C2336-C946-2E62-8F38-AC93A494D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53520-B66B-8013-72DA-A7992536D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0A743C-B14D-8FD1-5CAD-A1B56DD2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DC96A-9825-3BDF-7C2E-D22CBB6C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11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C213-E8A7-6193-70A9-ED7D4543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1D946-2A60-4581-0F40-60F6A81B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1823F-1BE7-50EB-5B64-435687E51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0D648-5A56-16A0-CEB5-E053633A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33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D8CD64-7BC2-F7E2-145A-5DF34EA1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151E85-E830-08F3-CB3B-EA751F49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DDE0D-CDE5-0235-6425-A8A4E76A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1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8463-E5A8-C9D6-5C71-AF52CE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DF86-E780-AE02-41F2-253132968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86C1D-92B0-F4BC-9E02-06FAB4299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CD4B8-40AE-3281-4CD8-A0EE9F7B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46C72-5BF3-A3FB-5A07-5F40B792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56734-590D-730F-7DCF-BEF0B720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05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2C21D-2CB6-9A34-4582-A0857DEC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AD378-1557-B754-E5BD-17881C20F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7B34B-12C2-3928-1883-6B807A607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3FF4C-9449-6A21-4F8E-EE6CE798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01745-4D44-ADFD-BC23-E1E65AA8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A467-4C61-C8D9-21BC-E9C54CD3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4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D28E-E405-0D7E-09A2-A5D1A160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AC204-657F-5F79-9FB1-54BC027AD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6225F-3F3A-1AFD-9EA6-76B41E75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47247-94D6-6D4F-EB09-2B0C396C3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05CB2-B9FF-21E3-4F09-4C26833A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6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A4BC00-7D4B-34E4-3092-F409D69DA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B2B05-90A7-315C-9C11-AF586500F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C4BC3-E133-4F87-C4B7-D17BC108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892F8-D8E1-A168-F952-4022BDF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EFE99-95AE-BEF0-DA52-915EB347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0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E48D5D-61B6-9A20-9DCA-85435E27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B7A35-EFE4-7E32-63D9-64E884B3E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D30F7-253F-EAC6-303C-AB9FFC3A3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6D924-7BB5-4197-91E0-D6699A043D68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4BB5F-BF10-A12E-D8ED-D92E73BD9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889D-B1B6-DFB1-F3A8-BE76AF586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8072E-DF90-49EF-B3B6-6DEE25FC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8D03B-E6FC-AEAE-8BE9-2C334F26B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5" y="1146412"/>
            <a:ext cx="9380641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ChatWell: Your Personal AI Therapist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B5933-9777-6C2A-B324-620246993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981" y="4892722"/>
            <a:ext cx="7223939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A Privacy-First, Local RAG Implementation for Mental Health Support.</a:t>
            </a:r>
          </a:p>
        </p:txBody>
      </p:sp>
    </p:spTree>
    <p:extLst>
      <p:ext uri="{BB962C8B-B14F-4D97-AF65-F5344CB8AC3E}">
        <p14:creationId xmlns:p14="http://schemas.microsoft.com/office/powerpoint/2010/main" val="246828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6B7A5-A955-B1BA-FA7F-C0DA5B18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The Problem &amp; 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1521-05F3-BD2B-4023-52AFDD90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2371" y="490456"/>
            <a:ext cx="7508926" cy="58973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Challenge:</a:t>
            </a:r>
          </a:p>
          <a:p>
            <a:r>
              <a:rPr lang="en-US" sz="2000" b="1" dirty="0"/>
              <a:t>Accessibility:</a:t>
            </a:r>
            <a:r>
              <a:rPr lang="en-US" sz="2000" dirty="0"/>
              <a:t> Professional therapy is often expensive and has long wait times.</a:t>
            </a:r>
          </a:p>
          <a:p>
            <a:r>
              <a:rPr lang="en-US" sz="2000" b="1" dirty="0"/>
              <a:t>Privacy:</a:t>
            </a:r>
            <a:r>
              <a:rPr lang="en-US" sz="2000" dirty="0"/>
              <a:t> Using cloud-based AI (like ChatGPT) for mental health puts sensitive personal data at risk of being stored on external servers.</a:t>
            </a:r>
          </a:p>
          <a:p>
            <a:r>
              <a:rPr lang="en-US" sz="2000" b="1" dirty="0"/>
              <a:t>Hallucinations:</a:t>
            </a:r>
            <a:r>
              <a:rPr lang="en-US" sz="2000" dirty="0"/>
              <a:t> General LLMs often give generic or incorrect medical advice.</a:t>
            </a:r>
          </a:p>
          <a:p>
            <a:pPr marL="0" indent="0">
              <a:buNone/>
            </a:pPr>
            <a:r>
              <a:rPr lang="en-US" sz="2000" b="1" dirty="0"/>
              <a:t>The Solution:</a:t>
            </a:r>
          </a:p>
          <a:p>
            <a:r>
              <a:rPr lang="en-US" sz="2000" b="1" dirty="0"/>
              <a:t>Local Execution:</a:t>
            </a:r>
            <a:r>
              <a:rPr lang="en-US" sz="2000" dirty="0"/>
              <a:t> Runs entirely on the user's laptop (offline capability) ensuring 100% data privacy.</a:t>
            </a:r>
          </a:p>
          <a:p>
            <a:r>
              <a:rPr lang="en-US" sz="2000" b="1" dirty="0"/>
              <a:t>Evidence-Based:</a:t>
            </a:r>
            <a:r>
              <a:rPr lang="en-US" sz="2000" dirty="0"/>
              <a:t> Uses RAG (Retrieval Augmented Generation) to ground answers in verified therapy techniques (CBT, Breathing Exercises).</a:t>
            </a:r>
          </a:p>
          <a:p>
            <a:r>
              <a:rPr lang="en-US" sz="2000" b="1" dirty="0"/>
              <a:t>Always Available:</a:t>
            </a:r>
            <a:r>
              <a:rPr lang="en-US" sz="2000" dirty="0"/>
              <a:t> 24/7 immediate support for anxiety, panic, and low mood.</a:t>
            </a:r>
          </a:p>
        </p:txBody>
      </p:sp>
    </p:spTree>
    <p:extLst>
      <p:ext uri="{BB962C8B-B14F-4D97-AF65-F5344CB8AC3E}">
        <p14:creationId xmlns:p14="http://schemas.microsoft.com/office/powerpoint/2010/main" val="422123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876F-0771-02ED-B108-911B1BBC8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132D-8AA9-8C8C-E73E-5E1284483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218860"/>
            <a:ext cx="7487700" cy="644055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The Stack:</a:t>
            </a:r>
          </a:p>
          <a:p>
            <a:r>
              <a:rPr lang="en-US" sz="2000" b="1" dirty="0"/>
              <a:t>Frontend:</a:t>
            </a:r>
            <a:r>
              <a:rPr lang="en-US" sz="2000" dirty="0"/>
              <a:t> HTML5, Tailwind CSS (</a:t>
            </a:r>
            <a:r>
              <a:rPr lang="en-US" sz="2000" dirty="0" err="1"/>
              <a:t>Glassmorphism</a:t>
            </a:r>
            <a:r>
              <a:rPr lang="en-US" sz="2000" dirty="0"/>
              <a:t> UI), JavaScript.</a:t>
            </a:r>
          </a:p>
          <a:p>
            <a:r>
              <a:rPr lang="en-US" sz="2000" b="1" dirty="0"/>
              <a:t>Backend:</a:t>
            </a:r>
            <a:r>
              <a:rPr lang="en-US" sz="2000" dirty="0"/>
              <a:t> Python Flask (Server), SQLite (Database).</a:t>
            </a:r>
          </a:p>
          <a:p>
            <a:r>
              <a:rPr lang="en-US" sz="2000" b="1" dirty="0"/>
              <a:t>AI Engine:</a:t>
            </a:r>
            <a:r>
              <a:rPr lang="en-US" sz="2000" dirty="0"/>
              <a:t> Llama 3.2 1B (via </a:t>
            </a:r>
            <a:r>
              <a:rPr lang="en-US" sz="2000" dirty="0" err="1"/>
              <a:t>Ollama</a:t>
            </a:r>
            <a:r>
              <a:rPr lang="en-US" sz="2000" dirty="0"/>
              <a:t>) – Small Language Model optimized for consumer hardware.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The Workflow (RAG Pipeline):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Input:</a:t>
            </a:r>
            <a:r>
              <a:rPr lang="en-US" sz="2000" dirty="0"/>
              <a:t> User enters symptoms (e.g., "I feel panic").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Safety Guardrail:</a:t>
            </a:r>
            <a:r>
              <a:rPr lang="en-US" sz="2000" dirty="0"/>
              <a:t> Regex filter checks for crisis keywords (Suicide/Self-harm).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Retrieval:</a:t>
            </a:r>
            <a:r>
              <a:rPr lang="en-US" sz="2000" dirty="0"/>
              <a:t> </a:t>
            </a:r>
            <a:r>
              <a:rPr lang="en-US" sz="2000" dirty="0" err="1"/>
              <a:t>LangChain</a:t>
            </a:r>
            <a:r>
              <a:rPr lang="en-US" sz="2000" dirty="0"/>
              <a:t> searches </a:t>
            </a:r>
            <a:r>
              <a:rPr lang="en-US" sz="2000" b="1" dirty="0" err="1"/>
              <a:t>ChromaDB</a:t>
            </a:r>
            <a:r>
              <a:rPr lang="en-US" sz="2000" dirty="0"/>
              <a:t> for relevant therapy guidelines.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Generation:</a:t>
            </a:r>
            <a:r>
              <a:rPr lang="en-US" sz="2000" dirty="0"/>
              <a:t> The LLM generates a response using the retrieved guidelines + Chat History.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Memory:</a:t>
            </a:r>
            <a:r>
              <a:rPr lang="en-US" sz="2000" dirty="0"/>
              <a:t> Interaction is saved to SQLite for long-term context.</a:t>
            </a:r>
          </a:p>
        </p:txBody>
      </p:sp>
    </p:spTree>
    <p:extLst>
      <p:ext uri="{BB962C8B-B14F-4D97-AF65-F5344CB8AC3E}">
        <p14:creationId xmlns:p14="http://schemas.microsoft.com/office/powerpoint/2010/main" val="156566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64FB1-77B7-F884-6079-97C5796A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FD8A6-222B-9B0D-365F-D0380DE9B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511388"/>
            <a:ext cx="7220729" cy="5913266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🧠 Persistent Memory: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en-US" sz="2000" dirty="0"/>
              <a:t>Remembers user details (Age, Gender) and conversation history across sessions using SQLite.</a:t>
            </a:r>
          </a:p>
          <a:p>
            <a:r>
              <a:rPr lang="en-US" sz="2000" b="1" dirty="0"/>
              <a:t>🛡️ Safety Guardrails: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en-US" sz="2000" dirty="0"/>
              <a:t>Deterministic safety layer that intercepts crisis messages before they reach the AI, providing emergency hotline resources immediately.</a:t>
            </a:r>
          </a:p>
          <a:p>
            <a:r>
              <a:rPr lang="en-US" sz="2000" b="1" dirty="0"/>
              <a:t>📚 RAG-Driven Accuracy:</a:t>
            </a:r>
          </a:p>
          <a:p>
            <a:pPr lvl="1">
              <a:spcBef>
                <a:spcPts val="600"/>
              </a:spcBef>
              <a:spcAft>
                <a:spcPts val="1800"/>
              </a:spcAft>
            </a:pPr>
            <a:r>
              <a:rPr lang="en-US" sz="2000" dirty="0"/>
              <a:t>Prioritizes specific clinical techniques (e.g., Box Breathing, 3-3-3 Rule) over general internet knowledge.</a:t>
            </a:r>
          </a:p>
          <a:p>
            <a:r>
              <a:rPr lang="en-US" sz="2000" b="1" dirty="0"/>
              <a:t>📊 Mood Tracker:</a:t>
            </a:r>
          </a:p>
          <a:p>
            <a:pPr lvl="1">
              <a:spcBef>
                <a:spcPts val="600"/>
              </a:spcBef>
            </a:pPr>
            <a:r>
              <a:rPr lang="en-US" sz="2000" dirty="0"/>
              <a:t>Integrated tool for users to log emotions and notes, creating a historical record of their well-being.</a:t>
            </a:r>
          </a:p>
        </p:txBody>
      </p:sp>
    </p:spTree>
    <p:extLst>
      <p:ext uri="{BB962C8B-B14F-4D97-AF65-F5344CB8AC3E}">
        <p14:creationId xmlns:p14="http://schemas.microsoft.com/office/powerpoint/2010/main" val="4291133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EB05C-BF5E-316F-962F-0D7F67C4A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6355" y="758575"/>
            <a:ext cx="7452737" cy="967782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5400" dirty="0"/>
              <a:t>Conclusion &amp; Future Scope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1ABB9629-90FE-2B0F-28A4-3CE0A421B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33" r="25147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CB84-6DCF-370D-1123-0FA088469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726357"/>
            <a:ext cx="7365358" cy="4297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Future Roadmap:</a:t>
            </a:r>
          </a:p>
          <a:p>
            <a:r>
              <a:rPr lang="en-US" sz="2000" b="1" dirty="0"/>
              <a:t>Voice Interaction:</a:t>
            </a:r>
            <a:r>
              <a:rPr lang="en-US" sz="2000" dirty="0"/>
              <a:t> Adding Speech-to-Text for hands-free therapy sessions.</a:t>
            </a:r>
          </a:p>
          <a:p>
            <a:r>
              <a:rPr lang="en-US" sz="2000" b="1" dirty="0"/>
              <a:t>Visual Analytics:</a:t>
            </a:r>
            <a:r>
              <a:rPr lang="en-US" sz="2000" dirty="0"/>
              <a:t> Dashboard charts to visualize mood trends over weeks/months.</a:t>
            </a:r>
          </a:p>
          <a:p>
            <a:r>
              <a:rPr lang="en-US" sz="2000" b="1" dirty="0"/>
              <a:t>Multi-Model Support:</a:t>
            </a:r>
            <a:r>
              <a:rPr lang="en-US" sz="2000" dirty="0"/>
              <a:t> Option to switch between different local models (e.g., Mistral, Gemma).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Conclusion:</a:t>
            </a:r>
            <a:r>
              <a:rPr lang="en-US" sz="2000" dirty="0"/>
              <a:t> ChatWell demonstrates that we do not need massive cloud infrastructure to build effective AI. By combining </a:t>
            </a:r>
            <a:r>
              <a:rPr lang="en-US" sz="2000" b="1" dirty="0"/>
              <a:t>Small Language Models</a:t>
            </a:r>
            <a:r>
              <a:rPr lang="en-US" sz="2000" dirty="0"/>
              <a:t> with </a:t>
            </a:r>
            <a:r>
              <a:rPr lang="en-US" sz="2000" b="1" dirty="0"/>
              <a:t>RAG</a:t>
            </a:r>
            <a:r>
              <a:rPr lang="en-US" sz="2000" dirty="0"/>
              <a:t> and </a:t>
            </a:r>
            <a:r>
              <a:rPr lang="en-US" sz="2000" b="1" dirty="0"/>
              <a:t>Vector Databases</a:t>
            </a:r>
            <a:r>
              <a:rPr lang="en-US" sz="2000" dirty="0"/>
              <a:t>, we can create safe, private, and helpful tools for mental wellness.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655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52798-34C8-3190-C06C-A7CA0CDE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14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843</Words>
  <Application>Microsoft Office PowerPoint</Application>
  <PresentationFormat>Widescreen</PresentationFormat>
  <Paragraphs>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ChatWell: Your Personal AI Therapist</vt:lpstr>
      <vt:lpstr>The Problem &amp; The Solution</vt:lpstr>
      <vt:lpstr>Technical Architecture</vt:lpstr>
      <vt:lpstr>Key Features</vt:lpstr>
      <vt:lpstr>Conclusion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FA22BESE0003 - FARAZ HUSSAIN</dc:creator>
  <cp:lastModifiedBy>FA22BESE0003 - FARAZ HUSSAIN</cp:lastModifiedBy>
  <cp:revision>1</cp:revision>
  <dcterms:created xsi:type="dcterms:W3CDTF">2026-01-14T07:09:09Z</dcterms:created>
  <dcterms:modified xsi:type="dcterms:W3CDTF">2026-01-14T08:49:48Z</dcterms:modified>
</cp:coreProperties>
</file>